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F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ne-n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5544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ASM × 木贡小学 · 2026 助学公益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574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芯火计划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611880"/>
            <a:ext cx="914400" cy="5029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2C66B"/>
                </a:solidFill>
                <a:latin typeface="Microsoft YaHei"/>
                <a:ea typeface="Microsoft YaHei"/>
                <a:cs typeface="Microsoft YaHei"/>
              </a:rPr>
              <a:t>每个孩子，都是一束等待被点亮的光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— 一束芯火，照亮一座山 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B9DC"/>
                </a:solidFill>
                <a:latin typeface="Microsoft YaHei"/>
                <a:ea typeface="Microsoft YaHei"/>
                <a:cs typeface="Microsoft YaHei"/>
              </a:rPr>
              <a:t>贵州 · 六盘水 · 木贡小学　|　线下公益面对面专场　|　执行方案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芯火计划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项目概览　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一次把“陪伴”做实的线下公益专场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627632"/>
            <a:ext cx="713232" cy="5029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34747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5216" y="1828800"/>
            <a:ext cx="3474720" cy="7315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201168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3 天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重点设计 Day1 晚间破冰 + Day2 全天面对面公益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1828800"/>
            <a:ext cx="34747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8536" y="1828800"/>
            <a:ext cx="3474720" cy="7315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201168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20 + 20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ASM 工程师约 20 人（含女性工程师）× 木贡学生约 20 人，1:1 结对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828800"/>
            <a:ext cx="34747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91856" y="1828800"/>
            <a:ext cx="3474720" cy="7315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0456" y="201168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5 年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自 2021 定点帮扶至今，2026 升级为线下专场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3566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3977639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5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木贡留守儿童占比高，科创、文体、线下陪伴资源稀缺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5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以往以物资捐赠、远程研学为主；2026 落地校园线下专场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5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融合科创科普 + 文体互动 + 物资捐赠，深化校企长效合作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566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本方案目标（可衡量）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977639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5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20 个孩子，每人亲手点亮一颗 LED、完成一件科创作品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5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每个孩子获 1 位工程师全程 1:1 陪伴与一封“未来之信”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5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留下：星河长卷 + 时间胶囊 + 运动角，延续到下次回访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芯火计划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F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ne-radi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2062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为什么是 ASM 来做　第一性原理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69494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「科技本身不改变世界，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C66B"/>
                </a:solidFill>
                <a:latin typeface="Microsoft YaHei"/>
                <a:ea typeface="Microsoft YaHei"/>
                <a:cs typeface="Microsoft YaHei"/>
              </a:rPr>
              <a:t>是人，改变世界。」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BB9DC"/>
                </a:solidFill>
                <a:latin typeface="Microsoft YaHei"/>
                <a:ea typeface="Microsoft YaHei"/>
                <a:cs typeface="Microsoft YaHei"/>
              </a:rPr>
              <a:t>—— ASM 官方使命：People are at the heart of ASM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566160"/>
            <a:ext cx="70408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0">
                <a:solidFill>
                  <a:srgbClr val="EADFF2"/>
                </a:solidFill>
                <a:latin typeface="Microsoft YaHei"/>
                <a:ea typeface="Microsoft YaHei"/>
                <a:cs typeface="Microsoft YaHei"/>
              </a:rPr>
              <a:t>ASM 造世界上最精密的芯片设备，但相信真正改变世界的是人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0">
                <a:solidFill>
                  <a:srgbClr val="EADFF2"/>
                </a:solidFill>
                <a:latin typeface="Microsoft YaHei"/>
                <a:ea typeface="Microsoft YaHei"/>
                <a:cs typeface="Microsoft YaHei"/>
              </a:rPr>
              <a:t>对“人”的投资，才是 ASM 使命最真实的表达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0">
                <a:solidFill>
                  <a:srgbClr val="EADFF2"/>
                </a:solidFill>
                <a:latin typeface="Microsoft YaHei"/>
                <a:ea typeface="Microsoft YaHei"/>
                <a:cs typeface="Microsoft YaHei"/>
              </a:rPr>
              <a:t>山区的孩子，正是</a:t>
            </a:r>
            <a:r>
              <a:rPr sz="1500" b="1">
                <a:solidFill>
                  <a:srgbClr val="F2C66B"/>
                </a:solidFill>
                <a:latin typeface="Microsoft YaHei"/>
                <a:ea typeface="Microsoft YaHei"/>
                <a:cs typeface="Microsoft YaHei"/>
              </a:rPr>
              <a:t>未来可能改变世界的人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0">
                <a:solidFill>
                  <a:srgbClr val="EADFF2"/>
                </a:solidFill>
                <a:latin typeface="Microsoft YaHei"/>
                <a:ea typeface="Microsoft YaHei"/>
                <a:cs typeface="Microsoft YaHei"/>
              </a:rPr>
              <a:t>→ 这不是顺便做善事，而是 ASM 使命最纯粹的一次落地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芯火计划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价值观地基　全程对齐，绝不偏离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每个环节，都长在 ASM 的价值观上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627632"/>
            <a:ext cx="713232" cy="5029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5216" y="1828800"/>
            <a:ext cx="3474720" cy="7315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205740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We Innovate · 创新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STEM 科研讲座、亲手点亮 LED、动手实验——激发好奇心与创新思维。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182880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8536" y="1828800"/>
            <a:ext cx="3474720" cy="7315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205740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We Deliver · 兑现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2021 至今 5 年定点帮扶；时间胶囊、长期之约——说到做到，持续兑现。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82880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91856" y="1828800"/>
            <a:ext cx="3474720" cy="7315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0456" y="205740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We Care · 关怀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1:1 面对面陪伴、平等不俯视、孩子是主人——把陪伴做实。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" y="3840480"/>
            <a:ext cx="11018520" cy="1371600"/>
          </a:xfrm>
          <a:prstGeom prst="roundRect">
            <a:avLst>
              <a:gd name="adj" fmla="val 6000"/>
            </a:avLst>
          </a:prstGeom>
          <a:solidFill>
            <a:srgbClr val="FAF6F2"/>
          </a:solidFill>
          <a:ln w="9525">
            <a:solidFill>
              <a:srgbClr val="E3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41648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WIN　</a:t>
            </a:r>
            <a:r>
              <a:rPr sz="13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Women's Initiative Network：「当有抱负、多元的头脑汇聚，才有开创性的进步」——本次由女性工程师把这份信念，从 ASM 员工延伸给大山里的女孩。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A9711A"/>
                </a:solidFill>
                <a:latin typeface="Microsoft YaHei"/>
                <a:ea typeface="Microsoft YaHei"/>
                <a:cs typeface="Microsoft YaHei"/>
              </a:rPr>
              <a:t>STEM　</a:t>
            </a:r>
            <a:r>
              <a:rPr sz="13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ASM 全球长期支持 STEM 与社区项目，与学校、NGO 合作——本次正是该战略的一环。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芯火计划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F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ne-lat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2062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主题创意推导　Theme Derivation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229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为什么叫「芯火计划」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627632"/>
            <a:ext cx="713232" cy="5029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182880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46315C"/>
          </a:solidFill>
          <a:ln w="9525">
            <a:solidFill>
              <a:srgbClr val="4631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3246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2C66B"/>
                </a:solidFill>
                <a:latin typeface="Microsoft YaHei"/>
                <a:ea typeface="Microsoft YaHei"/>
                <a:cs typeface="Microsoft YaHei"/>
              </a:rPr>
              <a:t>「芯」一字三义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ADFF2"/>
                </a:solidFill>
                <a:latin typeface="Microsoft YaHei"/>
                <a:ea typeface="Microsoft YaHei"/>
                <a:cs typeface="Microsoft YaHei"/>
              </a:rPr>
              <a:t>芯＝芯片（ASM 基因）｜谐音 心（We Care 的温度）｜谐音 星，「芯火」即「星火」——可以燎原。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46315C"/>
          </a:solidFill>
          <a:ln w="9525">
            <a:solidFill>
              <a:srgbClr val="4631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1993392"/>
            <a:ext cx="3246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2C66B"/>
                </a:solidFill>
                <a:latin typeface="Microsoft YaHei"/>
                <a:ea typeface="Microsoft YaHei"/>
                <a:cs typeface="Microsoft YaHei"/>
              </a:rPr>
              <a:t>方法＝ALD 逐层点亮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ADFF2"/>
                </a:solidFill>
                <a:latin typeface="Microsoft YaHei"/>
                <a:ea typeface="Microsoft YaHei"/>
                <a:cs typeface="Microsoft YaHei"/>
              </a:rPr>
              <a:t>ASM 本业是 ALD 原子层沉积：伟大不是一蹴而就，而是一层一层、精准而耐心地生长出来。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49039"/>
            <a:ext cx="7498079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每个孩子，都是一束等待被点亮的光</a:t>
            </a:r>
            <a:r>
              <a:rPr sz="1400" b="0">
                <a:solidFill>
                  <a:srgbClr val="EADFF2"/>
                </a:solidFill>
                <a:latin typeface="Microsoft YaHei"/>
                <a:ea typeface="Microsoft YaHei"/>
                <a:cs typeface="Microsoft YaHei"/>
              </a:rPr>
              <a:t>（前提：光本就在）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我们像做 ALD 一样点亮它</a:t>
            </a:r>
            <a:r>
              <a:rPr sz="1400" b="0">
                <a:solidFill>
                  <a:srgbClr val="EADFF2"/>
                </a:solidFill>
                <a:latin typeface="Microsoft YaHei"/>
                <a:ea typeface="Microsoft YaHei"/>
                <a:cs typeface="Microsoft YaHei"/>
              </a:rPr>
              <a:t>——一层陪伴、一层赋能，不急于求成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1">
                <a:solidFill>
                  <a:srgbClr val="F2C66B"/>
                </a:solidFill>
                <a:latin typeface="Microsoft YaHei"/>
                <a:ea typeface="Microsoft YaHei"/>
                <a:cs typeface="Microsoft YaHei"/>
              </a:rPr>
              <a:t>每束光连起来，照亮一座山</a:t>
            </a:r>
            <a:r>
              <a:rPr sz="1400" b="0">
                <a:solidFill>
                  <a:srgbClr val="EADFF2"/>
                </a:solidFill>
                <a:latin typeface="Microsoft YaHei"/>
                <a:ea typeface="Microsoft YaHei"/>
                <a:cs typeface="Microsoft YaHei"/>
              </a:rPr>
              <a:t>（人汇聚成改变世界的力量）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芯火计划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视觉母题　Visual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让 ASM 的品牌符号，长进公益的视觉里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627632"/>
            <a:ext cx="713232" cy="5029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 rot="5400000">
            <a:off x="1280160" y="2286000"/>
            <a:ext cx="2377440" cy="2377440"/>
          </a:xfrm>
          <a:prstGeom prst="hexagon">
            <a:avLst/>
          </a:prstGeom>
          <a:noFill/>
          <a:ln w="31750">
            <a:solidFill>
              <a:srgbClr val="5B3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6-Point Star 5"/>
          <p:cNvSpPr/>
          <p:nvPr/>
        </p:nvSpPr>
        <p:spPr>
          <a:xfrm>
            <a:off x="1783080" y="2788920"/>
            <a:ext cx="1371600" cy="1371600"/>
          </a:xfrm>
          <a:prstGeom prst="star6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E6478"/>
                </a:solidFill>
                <a:latin typeface="Microsoft YaHei"/>
                <a:ea typeface="Microsoft YaHei"/>
                <a:cs typeface="Microsoft YaHei"/>
              </a:rPr>
              <a:t>ASM logo ＝ 六边形里的星形 / 晶格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240280"/>
            <a:ext cx="6949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它像一颗 星</a:t>
            </a:r>
            <a:r>
              <a:rPr sz="15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 → 呼应“星河长卷”与”照亮一座山”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它又像 晶格 / 原子层</a:t>
            </a:r>
            <a:r>
              <a:rPr sz="15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 → 对上 ALD 逐层生长的技术内核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孩子画的每一颗“星“ = logo 的星形几何（统一图形语言）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星河上”星与星的连线” = logo 内部的线条结构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每页以星形做隐性栅格与装饰，品牌符号自然生长，而非贴角标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4800600"/>
            <a:ext cx="6949440" cy="914400"/>
          </a:xfrm>
          <a:prstGeom prst="roundRect">
            <a:avLst>
              <a:gd name="adj" fmla="val 6000"/>
            </a:avLst>
          </a:prstGeom>
          <a:solidFill>
            <a:srgbClr val="FAF6F2"/>
          </a:solidFill>
          <a:ln w="9525">
            <a:solidFill>
              <a:srgbClr val="E3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4956048"/>
            <a:ext cx="6492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三位一体：</a:t>
            </a:r>
            <a:r>
              <a:rPr sz="135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视觉（星河/晶格）＝ 技术（ALD）＝ 价值观（点亮人）。一眼看懂，无法复制。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芯火计划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229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从一束火，到照亮一座山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全景故事线　Emotional Arc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627632"/>
            <a:ext cx="713232" cy="5029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2670048"/>
            <a:ext cx="9509760" cy="36576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1832" y="2286000"/>
            <a:ext cx="768096" cy="768096"/>
          </a:xfrm>
          <a:prstGeom prst="ellipse">
            <a:avLst/>
          </a:prstGeom>
          <a:solidFill>
            <a:srgbClr val="46315C"/>
          </a:solidFill>
          <a:ln w="31750">
            <a:solidFill>
              <a:srgbClr val="E8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39" y="320040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芯·遇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CBB9DC"/>
                </a:solidFill>
                <a:latin typeface="Microsoft YaHei"/>
                <a:ea typeface="Microsoft YaHei"/>
                <a:cs typeface="Microsoft YaHei"/>
              </a:rPr>
              <a:t>Day1 晚·破冰·相遇</a:t>
            </a:r>
          </a:p>
        </p:txBody>
      </p:sp>
      <p:sp>
        <p:nvSpPr>
          <p:cNvPr id="8" name="Oval 7"/>
          <p:cNvSpPr/>
          <p:nvPr/>
        </p:nvSpPr>
        <p:spPr>
          <a:xfrm>
            <a:off x="3227832" y="2286000"/>
            <a:ext cx="768096" cy="768096"/>
          </a:xfrm>
          <a:prstGeom prst="ellipse">
            <a:avLst/>
          </a:prstGeom>
          <a:solidFill>
            <a:srgbClr val="46315C"/>
          </a:solidFill>
          <a:ln w="31750">
            <a:solidFill>
              <a:srgbClr val="E8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320040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芯·启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CBB9DC"/>
                </a:solidFill>
                <a:latin typeface="Microsoft YaHei"/>
                <a:ea typeface="Microsoft YaHei"/>
                <a:cs typeface="Microsoft YaHei"/>
              </a:rPr>
              <a:t>Day2上午·STEM·开眼界</a:t>
            </a:r>
          </a:p>
        </p:txBody>
      </p:sp>
      <p:sp>
        <p:nvSpPr>
          <p:cNvPr id="10" name="Oval 9"/>
          <p:cNvSpPr/>
          <p:nvPr/>
        </p:nvSpPr>
        <p:spPr>
          <a:xfrm>
            <a:off x="5513832" y="2286000"/>
            <a:ext cx="768096" cy="768096"/>
          </a:xfrm>
          <a:prstGeom prst="ellipse">
            <a:avLst/>
          </a:prstGeom>
          <a:solidFill>
            <a:srgbClr val="46315C"/>
          </a:solidFill>
          <a:ln w="31750">
            <a:solidFill>
              <a:srgbClr val="E8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320040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芯·她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CBB9DC"/>
                </a:solidFill>
                <a:latin typeface="Microsoft YaHei"/>
                <a:ea typeface="Microsoft YaHei"/>
                <a:cs typeface="Microsoft YaHei"/>
              </a:rPr>
              <a:t>Day2午后·WIN·榜样</a:t>
            </a:r>
          </a:p>
        </p:txBody>
      </p:sp>
      <p:sp>
        <p:nvSpPr>
          <p:cNvPr id="12" name="Oval 11"/>
          <p:cNvSpPr/>
          <p:nvPr/>
        </p:nvSpPr>
        <p:spPr>
          <a:xfrm>
            <a:off x="7799831" y="2286000"/>
            <a:ext cx="768096" cy="768096"/>
          </a:xfrm>
          <a:prstGeom prst="ellipse">
            <a:avLst/>
          </a:prstGeom>
          <a:solidFill>
            <a:srgbClr val="46315C"/>
          </a:solidFill>
          <a:ln w="31750">
            <a:solidFill>
              <a:srgbClr val="E8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320040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芯·燃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CBB9DC"/>
                </a:solidFill>
                <a:latin typeface="Microsoft YaHei"/>
                <a:ea typeface="Microsoft YaHei"/>
                <a:cs typeface="Microsoft YaHei"/>
              </a:rPr>
              <a:t>Day2下午·运动·并肩</a:t>
            </a:r>
          </a:p>
        </p:txBody>
      </p:sp>
      <p:sp>
        <p:nvSpPr>
          <p:cNvPr id="14" name="Oval 13"/>
          <p:cNvSpPr/>
          <p:nvPr/>
        </p:nvSpPr>
        <p:spPr>
          <a:xfrm>
            <a:off x="10085832" y="2286000"/>
            <a:ext cx="768096" cy="768096"/>
          </a:xfrm>
          <a:prstGeom prst="ellipse">
            <a:avLst/>
          </a:prstGeom>
          <a:solidFill>
            <a:srgbClr val="46315C"/>
          </a:solidFill>
          <a:ln w="31750">
            <a:solidFill>
              <a:srgbClr val="E8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320040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芯·山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CBB9DC"/>
                </a:solidFill>
                <a:latin typeface="Microsoft YaHei"/>
                <a:ea typeface="Microsoft YaHei"/>
                <a:cs typeface="Microsoft YaHei"/>
              </a:rPr>
              <a:t>收尾·升华·回响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" y="434340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46315C"/>
          </a:solidFill>
          <a:ln w="9525">
            <a:solidFill>
              <a:srgbClr val="4631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526280"/>
            <a:ext cx="49377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ADFF2"/>
                </a:solidFill>
                <a:latin typeface="Microsoft YaHei"/>
                <a:ea typeface="Microsoft YaHei"/>
                <a:cs typeface="Microsoft YaHei"/>
              </a:rPr>
              <a:t>五章以「芯·X」串联，每章让 slogan 回响一次；情绪层层升温，最终收束到“一束芯火，照亮一座山”。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34340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46315C"/>
          </a:solidFill>
          <a:ln w="9525">
            <a:solidFill>
              <a:srgbClr val="4631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526280"/>
            <a:ext cx="49377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ADFF2"/>
                </a:solidFill>
                <a:latin typeface="Microsoft YaHei"/>
                <a:ea typeface="Microsoft YaHei"/>
                <a:cs typeface="Microsoft YaHei"/>
              </a:rPr>
              <a:t>孩子内心：陌生 → “我有搭档” → “我也是工程师” → “女孩也能当领导” → “我能赢” → “我留下了光，未来会回响“。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芯火计划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整体行程　3-Day Itinerary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三天总览（重点：Day1 晚 + Day2 全天）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627632"/>
            <a:ext cx="713232" cy="5029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5216" y="1874519"/>
          <a:ext cx="11018518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1728"/>
                <a:gridCol w="2098765"/>
                <a:gridCol w="5509260"/>
                <a:gridCol w="2098765"/>
              </a:tblGrid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</a:t>
                      </a:r>
                    </a:p>
                  </a:txBody>
                  <a:tcPr marL="82296" marR="54864" marT="22860" marB="22860" anchor="ctr">
                    <a:solidFill>
                      <a:srgbClr val="5B3E7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82296" marR="54864" marT="22860" marB="22860" anchor="ctr">
                    <a:solidFill>
                      <a:srgbClr val="5B3E7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</a:t>
                      </a:r>
                    </a:p>
                  </a:txBody>
                  <a:tcPr marL="82296" marR="54864" marT="22860" marB="22860" anchor="ctr">
                    <a:solidFill>
                      <a:srgbClr val="5B3E7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地点</a:t>
                      </a:r>
                    </a:p>
                  </a:txBody>
                  <a:tcPr marL="82296" marR="54864" marT="22860" marB="22860" anchor="ctr">
                    <a:solidFill>
                      <a:srgbClr val="5B3E7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Day1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17:00–18:00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抵达六盘水 · 入住休整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市区酒店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Day1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18:00–19:30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芯·遇：公益破冰 + 结对晚宴（重点）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酒店会议室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Day2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08:00–10:00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前往木贡小学（车程约 90 分钟）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大巴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Day2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10:00–16:00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公益面对面：芯·启 / 芯·她 / 芯·燃 / 芯·山（重点）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木贡小学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Day2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16:00–19:00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返回市区 · 团队晚餐复盘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市区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Day3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09:00–17:00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返程（贵阳龙洞堡 → 上海浦东）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返程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5216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6478"/>
                </a:solidFill>
                <a:latin typeface="Microsoft YaHei"/>
                <a:ea typeface="Microsoft YaHei"/>
                <a:cs typeface="Microsoft YaHei"/>
              </a:rPr>
              <a:t>本方案聚焦两个“重点时段”的玩法与执行；其余为行程衔接，按既定安排执行。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芯火计划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DAY 1 · 18:00–19:30 · 酒店会议室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芯·遇 ｜ 相遇，是点亮的开始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481328"/>
            <a:ext cx="1028700" cy="292608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 w="9525">
            <a:solidFill>
              <a:srgbClr val="E8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9711A"/>
                </a:solidFill>
                <a:latin typeface="Microsoft YaHei"/>
                <a:ea typeface="Microsoft YaHei"/>
                <a:cs typeface="Microsoft YaHei"/>
              </a:rPr>
              <a:t>We Care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23644" y="1481328"/>
            <a:ext cx="1152144" cy="292608"/>
          </a:xfrm>
          <a:prstGeom prst="roundRect">
            <a:avLst>
              <a:gd name="adj" fmla="val 50000"/>
            </a:avLst>
          </a:prstGeom>
          <a:solidFill>
            <a:srgbClr val="EFE7F1"/>
          </a:solidFill>
          <a:ln w="9525">
            <a:solidFill>
              <a:srgbClr val="5B3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人遇见人，光才亮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920240"/>
            <a:ext cx="713232" cy="5029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5216" y="2148840"/>
          <a:ext cx="11018517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0223"/>
                <a:gridCol w="6160892"/>
                <a:gridCol w="1658701"/>
                <a:gridCol w="1658701"/>
              </a:tblGrid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82296" marR="54864" marT="22860" marB="22860" anchor="ctr">
                    <a:solidFill>
                      <a:srgbClr val="5B3E7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 &amp; 玩法</a:t>
                      </a:r>
                    </a:p>
                  </a:txBody>
                  <a:tcPr marL="82296" marR="54864" marT="22860" marB="22860" anchor="ctr">
                    <a:solidFill>
                      <a:srgbClr val="5B3E7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82296" marR="54864" marT="22860" marB="22860" anchor="ctr">
                    <a:solidFill>
                      <a:srgbClr val="5B3E7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物料</a:t>
                      </a:r>
                    </a:p>
                  </a:txBody>
                  <a:tcPr marL="82296" marR="54864" marT="22860" marB="22860" anchor="ctr">
                    <a:solidFill>
                      <a:srgbClr val="5B3E7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18:00–18:20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寻找点亮你的那个人：每人拿芯片造型徽章的一半，正确两半拼合才亮灯；找到搭档=三天”芯火搭档”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主持+全员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发光拼合徽章×40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18:20–19:10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搭档共进晚餐 + 暖场小游戏（三个关键词 / 猜职业），快速破冰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主持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桌签、游戏卡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19:10–19:30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点亮第一束芯火：女性“首席点灯人“点亮”芯火树”，留钩子——“明天你会亲手点亮自己的光”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首席点灯人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芯火树灯组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5216" y="52120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话术示例：</a:t>
            </a:r>
            <a:r>
              <a:rPr sz="13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“今晚我们点亮了第一束火。明天，每个人都会亲手点亮属于自己的光；所有人的光连在一起，会照亮整座山。”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芯火计划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DAY 2 · 木贡小学 · 10:00–16:00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公益面对面 · 全天 Run-of-show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627632"/>
            <a:ext cx="713232" cy="5029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5216" y="1874519"/>
          <a:ext cx="11018519" cy="3364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4815"/>
                <a:gridCol w="7129630"/>
                <a:gridCol w="2074074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82296" marR="54864" marT="22860" marB="22860" anchor="ctr">
                    <a:solidFill>
                      <a:srgbClr val="5B3E7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章节 / 环节</a:t>
                      </a:r>
                    </a:p>
                  </a:txBody>
                  <a:tcPr marL="82296" marR="54864" marT="22860" marB="22860" anchor="ctr">
                    <a:solidFill>
                      <a:srgbClr val="5B3E7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场地</a:t>
                      </a:r>
                    </a:p>
                  </a:txBody>
                  <a:tcPr marL="82296" marR="54864" marT="22860" marB="22860" anchor="ctr">
                    <a:solidFill>
                      <a:srgbClr val="5B3E7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10:00–10:20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抵达 · 孩子带路（孩子当东道主，带工程师参观学校）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校园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10:20–11:00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开幕 + 公益捐赠仪式（交火种 + 孩子回赠）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教室 / 礼堂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11:00–12:00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芯·启：STEM 科研讲座 + 亲手点亮 LED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教室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12:00–13:00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搭档共进午餐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食堂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13:00–13:40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芯·她：WIN 女性领导力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教室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13:40–15:10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芯·燃：趣味运动会 + 篮球友谊赛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操场 / 篮球场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15:10–16:00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芯·山：共绘星河 + 传光仪式 + 时间胶囊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操场 / 教室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芯火计划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DAY 2 · 10:20–12:00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芯·启 ｜ 亲手点亮你的第一束光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481328"/>
            <a:ext cx="1399032" cy="292608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 w="9525">
            <a:solidFill>
              <a:srgbClr val="E8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9711A"/>
                </a:solidFill>
                <a:latin typeface="Microsoft YaHei"/>
                <a:ea typeface="Microsoft YaHei"/>
                <a:cs typeface="Microsoft YaHei"/>
              </a:rPr>
              <a:t>We Deliver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93976" y="1481328"/>
            <a:ext cx="1522476" cy="292608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 w="9525">
            <a:solidFill>
              <a:srgbClr val="E8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9711A"/>
                </a:solidFill>
                <a:latin typeface="Microsoft YaHei"/>
                <a:ea typeface="Microsoft YaHei"/>
                <a:cs typeface="Microsoft YaHei"/>
              </a:rPr>
              <a:t>We Innovate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26180" y="1481328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EFE7F1"/>
          </a:solidFill>
          <a:ln w="9525">
            <a:solidFill>
              <a:srgbClr val="5B3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920240"/>
            <a:ext cx="713232" cy="5029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5216" y="2148840"/>
            <a:ext cx="539496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49377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① 开幕 + 公益捐赠仪式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49377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主语从”捐给你们“→”把火种交到你们手里”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助学金 + 科教物资 + STEM 套件捐赠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孩子回赠画 / 信 → 孩子也成为给予者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女性点灯人 + 校方共同启动【对齐 We Deliver】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148840"/>
            <a:ext cx="539496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49377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② STEM 科研讲座 + 点亮 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43200"/>
            <a:ext cx="49377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把 ASM 内部 STEM 课改成“山区孩子听得懂的科研课”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用”一层一层造芯片(ALD)”的通俗讲法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1:1 带教，孩子亲手点亮一颗 LED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作品归孩子所有，可带回家展示【对齐 We Innovate】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48920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工程师话术：</a:t>
            </a:r>
            <a:r>
              <a:rPr sz="13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“你刚做的，和我们工厂里做的是同一件事——让芯片发光。这，就是你点亮的第一束芯火。你今天就是一名工程师。”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芯火计划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F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ne-radi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2062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DAY 2 · 13:00–13:40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229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芯·她 ｜ 她的故事，你的可能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481328"/>
            <a:ext cx="1028700" cy="292608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 w="9525">
            <a:solidFill>
              <a:srgbClr val="E8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9711A"/>
                </a:solidFill>
                <a:latin typeface="Microsoft YaHei"/>
                <a:ea typeface="Microsoft YaHei"/>
                <a:cs typeface="Microsoft YaHei"/>
              </a:rPr>
              <a:t>We Care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23644" y="1481328"/>
            <a:ext cx="1275588" cy="292608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 w="9525">
            <a:solidFill>
              <a:srgbClr val="E8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9711A"/>
                </a:solidFill>
                <a:latin typeface="Microsoft YaHei"/>
                <a:ea typeface="Microsoft YaHei"/>
                <a:cs typeface="Microsoft YaHei"/>
              </a:rPr>
              <a:t>WIN 女性领导力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920240"/>
            <a:ext cx="713232" cy="5029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2286000"/>
            <a:ext cx="70408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0">
                <a:solidFill>
                  <a:srgbClr val="EADFF2"/>
                </a:solidFill>
                <a:latin typeface="Microsoft YaHei"/>
                <a:ea typeface="Microsoft YaHei"/>
                <a:cs typeface="Microsoft YaHei"/>
              </a:rPr>
              <a:t>女性“首席点灯人”主讲，</a:t>
            </a: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尤其触达留守女童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0">
                <a:solidFill>
                  <a:srgbClr val="EADFF2"/>
                </a:solidFill>
                <a:latin typeface="Microsoft YaHei"/>
                <a:ea typeface="Microsoft YaHei"/>
                <a:cs typeface="Microsoft YaHei"/>
              </a:rPr>
              <a:t>核心信息：“女孩，也可以造芯片、当工程师、当领导者”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0">
                <a:solidFill>
                  <a:srgbClr val="EADFF2"/>
                </a:solidFill>
                <a:latin typeface="Microsoft YaHei"/>
                <a:ea typeface="Microsoft YaHei"/>
                <a:cs typeface="Microsoft YaHei"/>
              </a:rPr>
              <a:t>把领导力翻译给孩子：</a:t>
            </a:r>
            <a:r>
              <a:rPr sz="1500" b="1">
                <a:solidFill>
                  <a:srgbClr val="F2C66B"/>
                </a:solidFill>
                <a:latin typeface="Microsoft YaHei"/>
                <a:ea typeface="Microsoft YaHei"/>
                <a:cs typeface="Microsoft YaHei"/>
              </a:rPr>
              <a:t>先点亮自己，再去照亮别人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0">
                <a:solidFill>
                  <a:srgbClr val="EADFF2"/>
                </a:solidFill>
                <a:latin typeface="Microsoft YaHei"/>
                <a:ea typeface="Microsoft YaHei"/>
                <a:cs typeface="Microsoft YaHei"/>
              </a:rPr>
              <a:t>安排</a:t>
            </a: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女工程师专门结对女学生</a:t>
            </a:r>
            <a:r>
              <a:rPr sz="1500" b="0">
                <a:solidFill>
                  <a:srgbClr val="EADFF2"/>
                </a:solidFill>
                <a:latin typeface="Microsoft YaHei"/>
                <a:ea typeface="Microsoft YaHei"/>
                <a:cs typeface="Microsoft YaHei"/>
              </a:rPr>
              <a:t>，让榜样可触摸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0">
                <a:solidFill>
                  <a:srgbClr val="EADFF2"/>
                </a:solidFill>
                <a:latin typeface="Microsoft YaHei"/>
                <a:ea typeface="Microsoft YaHei"/>
                <a:cs typeface="Microsoft YaHei"/>
              </a:rPr>
              <a:t>引用 WIN 理念：多元的头脑汇聚，才有开创性的进步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5074920"/>
            <a:ext cx="7223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2C66B"/>
                </a:solidFill>
                <a:latin typeface="Microsoft YaHei"/>
                <a:ea typeface="Microsoft YaHei"/>
                <a:cs typeface="Microsoft YaHei"/>
              </a:rPr>
              <a:t>设计点：</a:t>
            </a:r>
            <a:r>
              <a:rPr sz="1300" b="0">
                <a:solidFill>
                  <a:srgbClr val="EADFF2"/>
                </a:solidFill>
                <a:latin typeface="Microsoft YaHei"/>
                <a:ea typeface="Microsoft YaHei"/>
                <a:cs typeface="Microsoft YaHei"/>
              </a:rPr>
              <a:t>WIN 与“芯火”主题严丝合缝——领导力的本质，就是“点亮人”。女性榜样不再是台上遥远的名字，而是孩子今天真实对话过的人。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芯火计划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DAY 2 · 13:40–15:10 · 操场 / 篮球场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芯·燃 ｜ 火，越烧越旺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481328"/>
            <a:ext cx="1028700" cy="292608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 w="9525">
            <a:solidFill>
              <a:srgbClr val="E8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9711A"/>
                </a:solidFill>
                <a:latin typeface="Microsoft YaHei"/>
                <a:ea typeface="Microsoft YaHei"/>
                <a:cs typeface="Microsoft YaHei"/>
              </a:rPr>
              <a:t>We Care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23644" y="1481328"/>
            <a:ext cx="2263140" cy="292608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 w="9525">
            <a:solidFill>
              <a:srgbClr val="E8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9711A"/>
                </a:solidFill>
                <a:latin typeface="Microsoft YaHei"/>
                <a:ea typeface="Microsoft YaHei"/>
                <a:cs typeface="Microsoft YaHei"/>
              </a:rPr>
              <a:t>We Deliver · 道具留校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920240"/>
            <a:ext cx="713232" cy="5029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5216" y="2194560"/>
          <a:ext cx="6583679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88625"/>
                <a:gridCol w="1995054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玩法（工程师与孩子混队）</a:t>
                      </a:r>
                    </a:p>
                  </a:txBody>
                  <a:tcPr marL="82296" marR="54864" marT="22860" marB="22860" anchor="ctr">
                    <a:solidFill>
                      <a:srgbClr val="5B3E7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道具（留校）</a:t>
                      </a:r>
                    </a:p>
                  </a:txBody>
                  <a:tcPr marL="82296" marR="54864" marT="22860" marB="22860" anchor="ctr">
                    <a:solidFill>
                      <a:srgbClr val="5B3E7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彩虹伞·点亮星空：齐力把“星星”软球抛上伞面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大彩虹伞、软球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芯片运输大挑战：平衡盘端“芯片”过障碍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平衡盘、沙包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毛毛虫赛跑：多人同行，谁都不掉队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毛毛虫/跳袋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能量传递接力：球拍运”能量球”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羽毛球拍、软球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芯火大拔河：最有气氛的一战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安全拔河绳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篮球友谊赛 + 定点投篮：人人能得分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篮球 ×6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406640" y="2194560"/>
            <a:ext cx="4160520" cy="3383280"/>
          </a:xfrm>
          <a:prstGeom prst="roundRect">
            <a:avLst>
              <a:gd name="adj" fmla="val 6000"/>
            </a:avLst>
          </a:prstGeom>
          <a:solidFill>
            <a:srgbClr val="FAF6F2"/>
          </a:solidFill>
          <a:ln w="9525">
            <a:solidFill>
              <a:srgbClr val="E3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2377440"/>
            <a:ext cx="37033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🎁 「ASM 芯火快乐运动角」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所有器材打包捐给学校，活动后建一个长期运动角：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彩虹伞×2 · 软球 · 篮球×6 · 足球×4 · 跳绳×20 · 拔河绳×2 · 沙包/平衡盘 · 呼啦圈×20 · 飞盘×20 · 羽毛球 · 收纳袋+标牌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A9711A"/>
                </a:solidFill>
                <a:latin typeface="Microsoft YaHei"/>
                <a:ea typeface="Microsoft YaHei"/>
                <a:cs typeface="Microsoft YaHei"/>
              </a:rPr>
              <a:t>巧思：</a:t>
            </a:r>
            <a:r>
              <a:rPr sz="1250" b="0">
                <a:solidFill>
                  <a:srgbClr val="A9711A"/>
                </a:solidFill>
                <a:latin typeface="Microsoft YaHei"/>
                <a:ea typeface="Microsoft YaHei"/>
                <a:cs typeface="Microsoft YaHei"/>
              </a:rPr>
              <a:t>孩子和工程师一起挂上“运动角“牌——”以后你们每次来玩，就是我们还在陪你们。”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芯火计划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DAY 2 · 芯·燃 玩法详解　①/③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趣味运动会 · 逐项拆解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554480"/>
            <a:ext cx="713232" cy="5029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53492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2011680"/>
            <a:ext cx="4937760" cy="1691640"/>
          </a:xfrm>
          <a:prstGeom prst="roundRect">
            <a:avLst>
              <a:gd name="adj" fmla="val 5000"/>
            </a:avLst>
          </a:prstGeom>
          <a:solidFill>
            <a:srgbClr val="2E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p-umbre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49" y="2121408"/>
            <a:ext cx="2409028" cy="1472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9536" y="3822191"/>
            <a:ext cx="48463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① 彩虹伞 · 点亮星空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全员抓住大彩虹伞边缘，把软球“星星”抛上伞面，齐心抖动让它跳跃不落；听口令一起高抛，满天星腾空。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E6478"/>
                </a:solidFill>
                <a:latin typeface="Microsoft YaHei"/>
                <a:ea typeface="Microsoft YaHei"/>
                <a:cs typeface="Microsoft YaHei"/>
              </a:rPr>
              <a:t>👥 全员·40人　⏱ 10′　🎒 彩虹伞·软球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A9711A"/>
                </a:solidFill>
                <a:latin typeface="Microsoft YaHei"/>
                <a:ea typeface="Microsoft YaHei"/>
                <a:cs typeface="Microsoft YaHei"/>
              </a:rPr>
              <a:t>亮点：零门槛·强协作，直扣“星河/点亮”。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828800"/>
            <a:ext cx="53492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9944" y="2011680"/>
            <a:ext cx="4937760" cy="1691640"/>
          </a:xfrm>
          <a:prstGeom prst="roundRect">
            <a:avLst>
              <a:gd name="adj" fmla="val 5000"/>
            </a:avLst>
          </a:prstGeom>
          <a:solidFill>
            <a:srgbClr val="2E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p-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309" y="2121408"/>
            <a:ext cx="2409028" cy="1472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83096" y="3822191"/>
            <a:ext cx="48463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② 芯片运输大挑战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4-5 人一队接力，用平衡盘端着“易碎芯片”(沙包)走过障碍区，全程不能用手扶、不能掉落；最快且零掉落者胜。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E6478"/>
                </a:solidFill>
                <a:latin typeface="Microsoft YaHei"/>
                <a:ea typeface="Microsoft YaHei"/>
                <a:cs typeface="Microsoft YaHei"/>
              </a:rPr>
              <a:t>👥 4-5人/队　⏱ 15′　🎒 平衡盘·沙包·桩筒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A9711A"/>
                </a:solidFill>
                <a:latin typeface="Microsoft YaHei"/>
                <a:ea typeface="Microsoft YaHei"/>
                <a:cs typeface="Microsoft YaHei"/>
              </a:rPr>
              <a:t>亮点：呼应 ASM 高精度搬运，玩专注与配合。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芯火计划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13·1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DAY 2 · 芯·燃 玩法详解　②/③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趣味运动会 · 逐项拆解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554480"/>
            <a:ext cx="713232" cy="5029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53492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2011680"/>
            <a:ext cx="4937760" cy="1691640"/>
          </a:xfrm>
          <a:prstGeom prst="roundRect">
            <a:avLst>
              <a:gd name="adj" fmla="val 5000"/>
            </a:avLst>
          </a:prstGeom>
          <a:solidFill>
            <a:srgbClr val="2E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p-caterpil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49" y="2121408"/>
            <a:ext cx="2409028" cy="1472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9536" y="3822191"/>
            <a:ext cx="48463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③ 毛毛虫赛跑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多人坐进“毛毛虫”道具或一字搭肩蹲走，齐步前进，谁掉队就重来；先到终点的队获胜。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E6478"/>
                </a:solidFill>
                <a:latin typeface="Microsoft YaHei"/>
                <a:ea typeface="Microsoft YaHei"/>
                <a:cs typeface="Microsoft YaHei"/>
              </a:rPr>
              <a:t>👥 6-8人/队　⏱ 12′　🎒 毛毛虫道具/无道具版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A9711A"/>
                </a:solidFill>
                <a:latin typeface="Microsoft YaHei"/>
                <a:ea typeface="Microsoft YaHei"/>
                <a:cs typeface="Microsoft YaHei"/>
              </a:rPr>
              <a:t>亮点：“一个都不能少”，团队感拉满。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828800"/>
            <a:ext cx="53492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9944" y="2011680"/>
            <a:ext cx="4937760" cy="1691640"/>
          </a:xfrm>
          <a:prstGeom prst="roundRect">
            <a:avLst>
              <a:gd name="adj" fmla="val 5000"/>
            </a:avLst>
          </a:prstGeom>
          <a:solidFill>
            <a:srgbClr val="2E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p-re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309" y="2121408"/>
            <a:ext cx="2409028" cy="1472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83096" y="3822191"/>
            <a:ext cx="48463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④ 能量传递接力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用球拍(或勺)托着“能量球”跑过赛道交给下一棒，球掉了回到掉落点继续；最快队获胜。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E6478"/>
                </a:solidFill>
                <a:latin typeface="Microsoft YaHei"/>
                <a:ea typeface="Microsoft YaHei"/>
                <a:cs typeface="Microsoft YaHei"/>
              </a:rPr>
              <a:t>👥 5-6人/队　⏱ 12′　🎒 球拍/勺·软球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A9711A"/>
                </a:solidFill>
                <a:latin typeface="Microsoft YaHei"/>
                <a:ea typeface="Microsoft YaHei"/>
                <a:cs typeface="Microsoft YaHei"/>
              </a:rPr>
              <a:t>亮点：简单刺激、人人上手，紧张又好笑。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芯火计划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13·2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DAY 2 · 芯·燃 玩法详解　③/③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趣味运动会 · 逐项拆解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554480"/>
            <a:ext cx="713232" cy="5029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53492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2011680"/>
            <a:ext cx="4937760" cy="1691640"/>
          </a:xfrm>
          <a:prstGeom prst="roundRect">
            <a:avLst>
              <a:gd name="adj" fmla="val 5000"/>
            </a:avLst>
          </a:prstGeom>
          <a:solidFill>
            <a:srgbClr val="2E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p-t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49" y="2121408"/>
            <a:ext cx="2409028" cy="1472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9536" y="3822191"/>
            <a:ext cx="48463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⑤ 芯火大拔河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工程师+孩子混合两队，中线插“芯火旗”，听哨拔河，把旗拉过己方线者胜；三局两胜。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E6478"/>
                </a:solidFill>
                <a:latin typeface="Microsoft YaHei"/>
                <a:ea typeface="Microsoft YaHei"/>
                <a:cs typeface="Microsoft YaHei"/>
              </a:rPr>
              <a:t>👥 两队各15-20人　⏱ 12′　🎒 安全拔河绳·中线旗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A9711A"/>
                </a:solidFill>
                <a:latin typeface="Microsoft YaHei"/>
                <a:ea typeface="Microsoft YaHei"/>
                <a:cs typeface="Microsoft YaHei"/>
              </a:rPr>
              <a:t>亮点：最团结的一战，全场欢呼。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828800"/>
            <a:ext cx="53492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9944" y="2011680"/>
            <a:ext cx="4937760" cy="1691640"/>
          </a:xfrm>
          <a:prstGeom prst="roundRect">
            <a:avLst>
              <a:gd name="adj" fmla="val 5000"/>
            </a:avLst>
          </a:prstGeom>
          <a:solidFill>
            <a:srgbClr val="2E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p-bas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309" y="2121408"/>
            <a:ext cx="2409028" cy="1472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83096" y="3822191"/>
            <a:ext cx="48463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⑥ 篮球友谊赛 + 定点投篮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混合组队半场友谊赛，规则放宽重在参与；穿插定点投篮，每人3投，进球积分累计到队伍。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E6478"/>
                </a:solidFill>
                <a:latin typeface="Microsoft YaHei"/>
                <a:ea typeface="Microsoft YaHei"/>
                <a:cs typeface="Microsoft YaHei"/>
              </a:rPr>
              <a:t>👥 两队各5-8人轮换　⏱ 余下时间　🎒 篮球×6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A9711A"/>
                </a:solidFill>
                <a:latin typeface="Microsoft YaHei"/>
                <a:ea typeface="Microsoft YaHei"/>
                <a:cs typeface="Microsoft YaHei"/>
              </a:rPr>
              <a:t>亮点：大人孩子平起平坐当队友。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芯火计划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13·3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F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ne-n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2062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DAY 2 · 15:10–16:00 · 收尾压轴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229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芯·山 ｜ 一束芯火，照亮一座山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481328"/>
            <a:ext cx="1522476" cy="292608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 w="9525">
            <a:solidFill>
              <a:srgbClr val="E8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9711A"/>
                </a:solidFill>
                <a:latin typeface="Microsoft YaHei"/>
                <a:ea typeface="Microsoft YaHei"/>
                <a:cs typeface="Microsoft YaHei"/>
              </a:rPr>
              <a:t>We Innovate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17420" y="1481328"/>
            <a:ext cx="1399032" cy="292608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 w="9525">
            <a:solidFill>
              <a:srgbClr val="E8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9711A"/>
                </a:solidFill>
                <a:latin typeface="Microsoft YaHei"/>
                <a:ea typeface="Microsoft YaHei"/>
                <a:cs typeface="Microsoft YaHei"/>
              </a:rPr>
              <a:t>We Deliver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26180" y="1481328"/>
            <a:ext cx="1028700" cy="292608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 w="9525">
            <a:solidFill>
              <a:srgbClr val="E8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9711A"/>
                </a:solidFill>
                <a:latin typeface="Microsoft YaHei"/>
                <a:ea typeface="Microsoft YaHei"/>
                <a:cs typeface="Microsoft YaHei"/>
              </a:rPr>
              <a:t>We Care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920240"/>
            <a:ext cx="713232" cy="5029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219456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46315C"/>
          </a:solidFill>
          <a:ln w="9525">
            <a:solidFill>
              <a:srgbClr val="4631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77440"/>
            <a:ext cx="310896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F2C66B"/>
                </a:solidFill>
                <a:latin typeface="Microsoft YaHei"/>
                <a:ea typeface="Microsoft YaHei"/>
                <a:cs typeface="Microsoft YaHei"/>
              </a:rPr>
              <a:t>① 共绘星河（25′）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ADFF2"/>
                </a:solidFill>
                <a:latin typeface="Microsoft YaHei"/>
                <a:ea typeface="Microsoft YaHei"/>
                <a:cs typeface="Microsoft YaHei"/>
              </a:rPr>
              <a:t>预印画布 + 金银马克笔（速干不洒、无需水电）。每对画一颗 logo 星形的“星”+梦想，连成星河。永久留校。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219456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46315C"/>
          </a:solidFill>
          <a:ln w="9525">
            <a:solidFill>
              <a:srgbClr val="4631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3" y="2377440"/>
            <a:ext cx="310896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F2C66B"/>
                </a:solidFill>
                <a:latin typeface="Microsoft YaHei"/>
                <a:ea typeface="Microsoft YaHei"/>
                <a:cs typeface="Microsoft YaHei"/>
              </a:rPr>
              <a:t>② 传光仪式（12′）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ADFF2"/>
                </a:solidFill>
                <a:latin typeface="Microsoft YaHei"/>
                <a:ea typeface="Microsoft YaHei"/>
                <a:cs typeface="Microsoft YaHei"/>
              </a:rPr>
              <a:t>人手一盏电池 LED 小灯（无明火）。一束传四十束，齐念 slogan。小灯送给孩子。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219456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46315C"/>
          </a:solidFill>
          <a:ln w="9525">
            <a:solidFill>
              <a:srgbClr val="4631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2377440"/>
            <a:ext cx="310896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F2C66B"/>
                </a:solidFill>
                <a:latin typeface="Microsoft YaHei"/>
                <a:ea typeface="Microsoft YaHei"/>
                <a:cs typeface="Microsoft YaHei"/>
              </a:rPr>
              <a:t>③ 时间胶囊（13′）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ADFF2"/>
                </a:solidFill>
                <a:latin typeface="Microsoft YaHei"/>
                <a:ea typeface="Microsoft YaHei"/>
                <a:cs typeface="Microsoft YaHei"/>
              </a:rPr>
              <a:t>孩子写《给未来的自己》，工程师写给搭档，封存约定回访开启。可选「时光手账」带回家。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47091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C66B"/>
                </a:solidFill>
                <a:latin typeface="Microsoft YaHei"/>
                <a:ea typeface="Microsoft YaHei"/>
                <a:cs typeface="Microsoft YaHei"/>
              </a:rPr>
              <a:t>为什么打动 ASM：</a:t>
            </a:r>
            <a:r>
              <a:rPr sz="1250" b="0">
                <a:solidFill>
                  <a:srgbClr val="EADFF2"/>
                </a:solidFill>
                <a:latin typeface="Microsoft YaHei"/>
                <a:ea typeface="Microsoft YaHei"/>
                <a:cs typeface="Microsoft YaHei"/>
              </a:rPr>
              <a:t>传光让每位工程师亲手完成“点亮”，写信让他们真正走进一个孩子，胶囊给所有人一个必须再回来的理由。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芯火计划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DAY 2 · 芯·山 玩法详解 · 第一幕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共绘「星河长卷」（约 25′）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627632"/>
            <a:ext cx="713232" cy="5029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5216" y="1920240"/>
            <a:ext cx="5120640" cy="3931920"/>
          </a:xfrm>
          <a:prstGeom prst="roundRect">
            <a:avLst>
              <a:gd name="adj" fmla="val 5000"/>
            </a:avLst>
          </a:prstGeom>
          <a:solidFill>
            <a:srgbClr val="F7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-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116328"/>
            <a:ext cx="4901183" cy="35397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2103120"/>
            <a:ext cx="55778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铺开预印画布（淡星形栅格 + 山的剪影 + slogan）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每对搭档用金/银马克笔描一颗 </a:t>
            </a:r>
            <a:r>
              <a:rPr sz="1500" b="1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ASM 星形的星</a:t>
            </a:r>
            <a:r>
              <a:rPr sz="15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，写名字 + 一个梦想词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用线把自己的星和邻座的星连起来 → 全场连成</a:t>
            </a:r>
            <a:r>
              <a:rPr sz="1500" b="1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照亮山顶的星河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88620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6478"/>
                </a:solidFill>
                <a:latin typeface="Microsoft YaHei"/>
                <a:ea typeface="Microsoft YaHei"/>
                <a:cs typeface="Microsoft YaHei"/>
              </a:rPr>
              <a:t>🎒 星河画布×1 · 金银马克笔×20 · 星形模板×20　｜　🏫 永久挂校墙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434840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话术：</a:t>
            </a:r>
            <a:r>
              <a:rPr sz="13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“你画的不是普通的星——它有你的名字和梦想。看，它和大家的星连在一起，就照亮了整座山。”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5440680"/>
            <a:ext cx="1522476" cy="292608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 w="9525">
            <a:solidFill>
              <a:srgbClr val="E8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9711A"/>
                </a:solidFill>
                <a:latin typeface="Microsoft YaHei"/>
                <a:ea typeface="Microsoft YaHei"/>
                <a:cs typeface="Microsoft YaHei"/>
              </a:rPr>
              <a:t>We Innovate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5440680"/>
            <a:ext cx="1028700" cy="292608"/>
          </a:xfrm>
          <a:prstGeom prst="roundRect">
            <a:avLst>
              <a:gd name="adj" fmla="val 50000"/>
            </a:avLst>
          </a:prstGeom>
          <a:solidFill>
            <a:srgbClr val="EFE7F1"/>
          </a:solidFill>
          <a:ln w="9525">
            <a:solidFill>
              <a:srgbClr val="5B3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We Care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芯火计划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14·1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DAY 2 · 芯·山 玩法详解 · 第二幕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传光仪式（约 12′）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627632"/>
            <a:ext cx="713232" cy="5029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5216" y="1920240"/>
            <a:ext cx="5120640" cy="3931920"/>
          </a:xfrm>
          <a:prstGeom prst="roundRect">
            <a:avLst>
              <a:gd name="adj" fmla="val 5000"/>
            </a:avLst>
          </a:prstGeom>
          <a:solidFill>
            <a:srgbClr val="2E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388616"/>
            <a:ext cx="4901183" cy="29951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2103120"/>
            <a:ext cx="55778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每人发一盏</a:t>
            </a:r>
            <a:r>
              <a:rPr sz="1500" b="1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电池 LED 小灯</a:t>
            </a:r>
            <a:r>
              <a:rPr sz="15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（无明火、无需供电）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由女性“首席点灯人”手中</a:t>
            </a:r>
            <a:r>
              <a:rPr sz="1500" b="1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唯一亮着的灯</a:t>
            </a:r>
            <a:r>
              <a:rPr sz="15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开始，手手相传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5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直到 40 人全部亮起，举灯齐念 </a:t>
            </a:r>
            <a:r>
              <a:rPr sz="1500" b="1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“一束芯火，照亮一座山”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93192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6478"/>
                </a:solidFill>
                <a:latin typeface="Microsoft YaHei"/>
                <a:ea typeface="Microsoft YaHei"/>
                <a:cs typeface="Microsoft YaHei"/>
              </a:rPr>
              <a:t>🎒 电池 LED 小灯×40　｜　🏫 留存：小灯全部送孩子带回家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480560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话术：</a:t>
            </a:r>
            <a:r>
              <a:rPr sz="13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“光不会因为分给别人而变少——它只会让更多人亮起来。这盏灯送给你，它会一直亮着。”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53492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A9711A"/>
                </a:solidFill>
                <a:latin typeface="Microsoft YaHei"/>
                <a:ea typeface="Microsoft YaHei"/>
                <a:cs typeface="Microsoft YaHei"/>
              </a:rPr>
              <a:t>已砍掉 UV 暗房依赖，简易学校可稳稳跑完。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芯火计划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14·2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DAY 2 · 芯·山 玩法详解 · 第三幕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时间胶囊 + 时光手账（约 13′）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554480"/>
            <a:ext cx="713232" cy="5029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11018520" cy="1371600"/>
          </a:xfrm>
          <a:prstGeom prst="roundRect">
            <a:avLst>
              <a:gd name="adj" fmla="val 5000"/>
            </a:avLst>
          </a:prstGeom>
          <a:solidFill>
            <a:srgbClr val="2E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-caps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1938528"/>
            <a:ext cx="1728216" cy="115214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5216" y="3337560"/>
            <a:ext cx="53949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493776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🕰 时间胶囊（集体记忆 · 留校）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49377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5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孩子写《给未来的自己》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5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每位工程师写一封给搭档孩子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5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一起封进胶囊盒，交校方保管，约定下次回访开启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337560"/>
            <a:ext cx="5394960" cy="2743200"/>
          </a:xfrm>
          <a:prstGeom prst="roundRect">
            <a:avLst>
              <a:gd name="adj" fmla="val 6000"/>
            </a:avLst>
          </a:prstGeom>
          <a:solidFill>
            <a:srgbClr val="FAF6F2"/>
          </a:solidFill>
          <a:ln w="9525">
            <a:solidFill>
              <a:srgbClr val="E3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520440"/>
            <a:ext cx="493776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📖 时光手账（个人陪伴 · 带回家）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每个孩子获赠一本「芯火时光手账」（深紫×暖金、印 ASM 星形母题）：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434840"/>
            <a:ext cx="49377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25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内页：今日打卡、给未来的自己、梦想清单、双师课堂记录页、成长贴纸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25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工程师在搭档手账上亲笔留一页寄语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25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带回家持续书写，衔接后续线上双师课堂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1722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区别：</a:t>
            </a:r>
            <a:r>
              <a:rPr sz="125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胶囊＝集体记忆留校；手账＝个人陪伴带回家——二者并存。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芯火计划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14·3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推荐方案 2（可选预案）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两座城，一片天 ｜ 上海孩子同行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627632"/>
            <a:ext cx="713232" cy="5029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核心设计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22860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4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不是城里孩子来“看”山里孩子，而是两个世界互相照亮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4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三人组结对：1 上海孩子 + 1 木贡孩子 + 1 工程师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4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角色反转：木贡孩子当东道主/向导，在带路·自然·运动·篮球中是“专家”，在主场收获自信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4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收尾升华：两座城的星，连进同一条星河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价值 &amp; 注意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286000"/>
            <a:ext cx="53949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4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✅ 故事性、传播性、ESG 叙事更强（消除城乡认知鸿沟）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4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✅ 双向成长：上海孩子收获感恩与坚韧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4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⚠ 增加招募、监护、保险与安全成本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4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⚠ 做好引导，规避任何“贫富对比/猎奇”观感（已在角色设计上规避）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芯火计划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执行 · 人员分工　ASM 约 20 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每个人既是“搭档”，也有一份岗位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627632"/>
            <a:ext cx="713232" cy="5029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5216" y="1874519"/>
          <a:ext cx="11018518" cy="3364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53417"/>
                <a:gridCol w="1249522"/>
                <a:gridCol w="6815579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</a:t>
                      </a:r>
                    </a:p>
                  </a:txBody>
                  <a:tcPr marL="82296" marR="54864" marT="22860" marB="22860" anchor="ctr">
                    <a:solidFill>
                      <a:srgbClr val="5B3E7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人数</a:t>
                      </a:r>
                    </a:p>
                  </a:txBody>
                  <a:tcPr marL="82296" marR="54864" marT="22860" marB="22860" anchor="ctr">
                    <a:solidFill>
                      <a:srgbClr val="5B3E7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82296" marR="54864" marT="22860" marB="22860" anchor="ctr">
                    <a:solidFill>
                      <a:srgbClr val="5B3E7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总协调 / 主持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全程节奏、串场、对接校方与时间把控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首席点灯人（女性工程师）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Day1 点火 → 芯·她 WIN 主讲 → 收尾长期之约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STEM 讲师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2–3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科研讲座主讲 + 实验带教总指挥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运动会裁判 / 安全员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趣味赛与篮球赛组织、规则、安全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影像（摄影 + 摄像）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高光时刻记录，供后续传播与 ESG 报告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后勤 / 物料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物料分发、场地布置、捐赠物资交接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1:1 芯火搭档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全体 20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以上岗位叠加在 20 人身上；每人全程陪伴 1 个孩子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5216" y="5806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6478"/>
                </a:solidFill>
                <a:latin typeface="Microsoft YaHei"/>
                <a:ea typeface="Microsoft YaHei"/>
                <a:cs typeface="Microsoft YaHei"/>
              </a:rPr>
              <a:t>20 名 ASM 人员 = 20 名搭档，岗位角色叠加分配；确保 20:20 严格 1:1，无孩子掉队。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芯火计划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执行 · 物料采购总清单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物料一览（含数量 · 是否留校）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627632"/>
            <a:ext cx="713232" cy="5029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5216" y="1874519"/>
          <a:ext cx="5486400" cy="3364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/>
                <a:gridCol w="1016000"/>
                <a:gridCol w="812800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仪式 / 课程物料</a:t>
                      </a:r>
                    </a:p>
                  </a:txBody>
                  <a:tcPr marL="82296" marR="54864" marT="22860" marB="22860" anchor="ctr">
                    <a:solidFill>
                      <a:srgbClr val="5B3E7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</a:t>
                      </a:r>
                    </a:p>
                  </a:txBody>
                  <a:tcPr marL="82296" marR="54864" marT="22860" marB="22860" anchor="ctr">
                    <a:solidFill>
                      <a:srgbClr val="5B3E7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留校</a:t>
                      </a:r>
                    </a:p>
                  </a:txBody>
                  <a:tcPr marL="82296" marR="54864" marT="22860" marB="22860" anchor="ctr">
                    <a:solidFill>
                      <a:srgbClr val="5B3E7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发光拼合徽章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STEM 点灯实验套件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芯火树灯组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电池 LED 小灯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星河画布+金银马克笔+模板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1+20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时间胶囊盒+卡片/时光手账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1+40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助学金 + 科教物资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55080" y="1874519"/>
          <a:ext cx="5212079" cy="3364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07898"/>
                <a:gridCol w="1002323"/>
                <a:gridCol w="801858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运动 / 通用物料</a:t>
                      </a:r>
                    </a:p>
                  </a:txBody>
                  <a:tcPr marL="82296" marR="54864" marT="22860" marB="22860" anchor="ctr">
                    <a:solidFill>
                      <a:srgbClr val="5B3E7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</a:t>
                      </a:r>
                    </a:p>
                  </a:txBody>
                  <a:tcPr marL="82296" marR="54864" marT="22860" marB="22860" anchor="ctr">
                    <a:solidFill>
                      <a:srgbClr val="5B3E7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留校</a:t>
                      </a:r>
                    </a:p>
                  </a:txBody>
                  <a:tcPr marL="82296" marR="54864" marT="22860" marB="22860" anchor="ctr">
                    <a:solidFill>
                      <a:srgbClr val="5B3E7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彩虹伞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篮球 / 足球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/ 4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跳绳/呼啦圈/飞盘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20×3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拔河绳/沙包/平衡盘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2/批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横幅·桌签·物料牌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影像设备·备用电源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医药急救箱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5216" y="5897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6478"/>
                </a:solidFill>
                <a:latin typeface="Microsoft YaHei"/>
                <a:ea typeface="Microsoft YaHei"/>
                <a:cs typeface="Microsoft YaHei"/>
              </a:rPr>
              <a:t>原则：凡能留下的，全部留给学校——让陪伴在我们离开后继续。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芯火计划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执行 · 场地动线 &amp; 应急预案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把“意外”提前想到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627632"/>
            <a:ext cx="713232" cy="5029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5216" y="1920240"/>
            <a:ext cx="53949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9377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场地动线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9377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4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教室：开幕/捐赠/STEM/WIN/时间胶囊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4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操场：趣味运动会/传光仪式/共绘星河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4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篮球场：篮球友谊赛 + 定点投篮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4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动线就近，午餐在食堂，全程 1:1 不分散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3949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9377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应急预案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9377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4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天气：雨天运动会改室内；星河、传光移入教室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4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电力：LED 全电池供电、已砍 UV，不依赖现场供电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4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医疗：2 个急救箱 + 预确认最近医院与路线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4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情绪：班主任全程陪同，留守儿童情绪引导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4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人数浮动：1:1 弹性分组，多备 2 套物料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5394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落地铁律：</a:t>
            </a:r>
            <a:r>
              <a:rPr sz="13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所有环节”不依赖暗房 / 不依赖稳定电力 / 不依赖网络“，简易学校也能稳稳跑完。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芯火计划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执行 · 儿童保护与合规（不可省略）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把孩子的安全，放在创意之前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627632"/>
            <a:ext cx="713232" cy="5029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5216" y="1920240"/>
            <a:ext cx="53949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儿童保护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9377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4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肖像 / 影像须监护人书面授权，对外传播去隐私化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4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志愿者签儿童保护行为准则：不与儿童单独相处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4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全程班主任 / 校方在场陪同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3949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安全与物料合规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9377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4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发光物料一律电子烛火、无明火，3C/无毒认证、低压安全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4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定制件预留打样周期，备足备用件 + 故障兜底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4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2 个急救箱 + 预确认最近医院路线；保险覆盖全员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4846320"/>
            <a:ext cx="11018520" cy="1051560"/>
          </a:xfrm>
          <a:prstGeom prst="roundRect">
            <a:avLst>
              <a:gd name="adj" fmla="val 6000"/>
            </a:avLst>
          </a:prstGeom>
          <a:solidFill>
            <a:srgbClr val="FAF6F2"/>
          </a:solidFill>
          <a:ln w="9525">
            <a:solidFill>
              <a:srgbClr val="E3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02920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A9711A"/>
                </a:solidFill>
                <a:latin typeface="Microsoft YaHei"/>
                <a:ea typeface="Microsoft YaHei"/>
                <a:cs typeface="Microsoft YaHei"/>
              </a:rPr>
              <a:t>待官方确认：</a:t>
            </a:r>
            <a:r>
              <a:rPr sz="130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本方案中 ASM 价值观 / 使命金句 / WIN 理念 / Logo 描述 / 帮扶年限等，系依据简报整理，正式定稿前请以 ASM 品牌 · CSR 官方表述为准。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芯火计划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执行 · 筹备倒排期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从今天到现场，倒着排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627632"/>
            <a:ext cx="713232" cy="5029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5216" y="1920240"/>
          <a:ext cx="11018519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0223"/>
                <a:gridCol w="9478296"/>
              </a:tblGrid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</a:t>
                      </a:r>
                    </a:p>
                  </a:txBody>
                  <a:tcPr marL="82296" marR="54864" marT="22860" marB="22860" anchor="ctr">
                    <a:solidFill>
                      <a:srgbClr val="5B3E7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关键动作</a:t>
                      </a:r>
                    </a:p>
                  </a:txBody>
                  <a:tcPr marL="82296" marR="54864" marT="22860" marB="22860" anchor="ctr">
                    <a:solidFill>
                      <a:srgbClr val="5B3E7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T-30 天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确认行程/人数；校方对接（学生名单、场地、电力）；STEM 课程包与讲师定稿；物料采购下单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T-14 天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定制件到货；讲师试讲彩排；影像与传播脚本；女性点灯人内容定稿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T-7 天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全流程桌面推演（含应急）；物料清点装箱；1:1 搭档名单与岗位分工锁定；安全/保险确认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T-1 天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抵达布场预演（芯火树、星河画布、运动场地）；设备充电；Day1 破冰最终走位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Run-of-show 执行；总协调控时；影像抓高光；当晚团队复盘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芯火计划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影响 · 认知拔升 &amp; 长期回响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这一天，会留在孩子的认知里很久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627632"/>
            <a:ext cx="713232" cy="5029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5216" y="1874519"/>
          <a:ext cx="5852158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90057"/>
                <a:gridCol w="1463039"/>
                <a:gridCol w="2299062"/>
              </a:tblGrid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升级前</a:t>
                      </a:r>
                    </a:p>
                  </a:txBody>
                  <a:tcPr marL="82296" marR="54864" marT="22860" marB="22860" anchor="ctr">
                    <a:solidFill>
                      <a:srgbClr val="5B3E7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经由</a:t>
                      </a:r>
                    </a:p>
                  </a:txBody>
                  <a:tcPr marL="82296" marR="54864" marT="22860" marB="22860" anchor="ctr">
                    <a:solidFill>
                      <a:srgbClr val="5B3E7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升级后</a:t>
                      </a:r>
                    </a:p>
                  </a:txBody>
                  <a:tcPr marL="82296" marR="54864" marT="22860" marB="22860" anchor="ctr">
                    <a:solidFill>
                      <a:srgbClr val="5B3E7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我是被资助的孩子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带路·回赠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我是主人，也能给予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高科技离我很远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点亮 LED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我也是工程师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女孩读书没用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芯·她 WIN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女孩也能当领导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我没什么潜力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芯火隐喻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我是一束有光的芯</a:t>
                      </a:r>
                    </a:p>
                  </a:txBody>
                  <a:tcPr marL="82296" marR="54864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帮一次就走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时间胶囊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2C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有一个长期的约定</a:t>
                      </a:r>
                    </a:p>
                  </a:txBody>
                  <a:tcPr marL="82296" marR="54864" marT="22860" marB="22860" anchor="ctr">
                    <a:solidFill>
                      <a:srgbClr val="FAF6F2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766560" y="1874519"/>
            <a:ext cx="48006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0" y="2057400"/>
            <a:ext cx="4389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长期回响机制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时间胶囊回访开启 · 线上双师课堂延续 · 择优上海科创夏令营 · 星河墙与运动角永久留校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3520440"/>
            <a:ext cx="4800600" cy="1463040"/>
          </a:xfrm>
          <a:prstGeom prst="roundRect">
            <a:avLst>
              <a:gd name="adj" fmla="val 6000"/>
            </a:avLst>
          </a:prstGeom>
          <a:solidFill>
            <a:srgbClr val="FAF6F2"/>
          </a:solidFill>
          <a:ln w="9525">
            <a:solidFill>
              <a:srgbClr val="E3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3703320"/>
            <a:ext cx="4389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B3E70"/>
                </a:solidFill>
                <a:latin typeface="Microsoft YaHei"/>
                <a:ea typeface="Microsoft YaHei"/>
                <a:cs typeface="Microsoft YaHei"/>
              </a:rPr>
              <a:t>成效追踪（KPI）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C2433"/>
                </a:solidFill>
                <a:latin typeface="Microsoft YaHei"/>
                <a:ea typeface="Microsoft YaHei"/>
                <a:cs typeface="Microsoft YaHei"/>
              </a:rPr>
              <a:t>结对覆盖 20/20 · 人均 1 件科创作品 · 40 封“未来之信” · 回访开启率 · 影像与 ESG 传播产出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E6478"/>
                </a:solidFill>
                <a:latin typeface="Microsoft YaHei"/>
                <a:ea typeface="Microsoft YaHei"/>
                <a:cs typeface="Microsoft YaHei"/>
              </a:rPr>
              <a:t>从“给物资“升级到”给视野、给榜样、给自我效能、给成长型思维”——这比任何物资都留得久。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芯火计划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F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ne-n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12801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◆  </a:t>
            </a:r>
            <a:r>
              <a:rPr sz="1300" b="1">
                <a:solidFill>
                  <a:srgbClr val="E8A93B"/>
                </a:solidFill>
                <a:latin typeface="Microsoft YaHei"/>
                <a:ea typeface="Microsoft YaHei"/>
                <a:cs typeface="Microsoft YaHei"/>
              </a:rPr>
              <a:t>ASM · WE INNOVATE · WE DELIVER · WE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ASM 不是去“帮”这些孩子，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而是去做它最擅长的事——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2C66B"/>
                </a:solidFill>
                <a:latin typeface="Microsoft YaHei"/>
                <a:ea typeface="Microsoft YaHei"/>
                <a:cs typeface="Microsoft YaHei"/>
              </a:rPr>
              <a:t>把一颗颗被埋没的“芯”，连接、点亮，然后让它发光。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2C66B"/>
                </a:solidFill>
                <a:latin typeface="Microsoft YaHei"/>
                <a:ea typeface="Microsoft YaHei"/>
                <a:cs typeface="Microsoft YaHei"/>
              </a:rPr>
              <a:t>一束芯火，照亮一座山。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芯火计划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A4C9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